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800" b="1">
                <a:solidFill>
                  <a:srgbClr val="38BDF8"/>
                </a:solidFill>
                <a:latin typeface="Century Gothic"/>
              </a:defRPr>
            </a:pPr>
            <a:r>
              <a:t>RAASTASENSE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8FAFC"/>
                </a:solidFill>
                <a:latin typeface="Century Gothic"/>
              </a:defRPr>
            </a:pPr>
            <a:r>
              <a:t>Transforming Road Safety Through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474720"/>
            <a:ext cx="4114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Century Gothic"/>
              </a:defRPr>
            </a:pPr>
            <a:r>
              <a:t>TEAM: NXT-waVE</a:t>
            </a:r>
          </a:p>
          <a:p>
            <a:pPr>
              <a:spcBef>
                <a:spcPts val="400"/>
              </a:spcBef>
              <a:defRPr sz="1400">
                <a:solidFill>
                  <a:srgbClr val="F8FAFC"/>
                </a:solidFill>
                <a:latin typeface="Century Gothic"/>
              </a:defRPr>
            </a:pPr>
            <a:r>
              <a:t>MEMBERS: AJAY RATHOD | ANIMESH BHANARKAR</a:t>
            </a:r>
          </a:p>
          <a:p>
            <a:pPr>
              <a:spcBef>
                <a:spcPts val="800"/>
              </a:spcBef>
              <a:defRPr sz="1200" b="1">
                <a:solidFill>
                  <a:srgbClr val="38BDF8"/>
                </a:solidFill>
                <a:latin typeface="Century Gothic"/>
              </a:defRPr>
            </a:pPr>
            <a:r>
              <a:t>IIT Madras Road Safety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entury Gothic"/>
              </a:defRPr>
            </a:pPr>
            <a:r>
              <a:t>NATIONAL TELEMETRY &amp;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entury Gothic"/>
              </a:defRPr>
            </a:pPr>
            <a:r>
              <a:t>The Critical Road Safety Challenge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2976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43F5E"/>
                </a:solidFill>
                <a:latin typeface="Century Gothic"/>
              </a:defRPr>
            </a:pPr>
            <a:r>
              <a:t>1.5 Lakhs+</a:t>
            </a:r>
          </a:p>
          <a:p>
            <a:pPr>
              <a:spcAft>
                <a:spcPts val="2800"/>
              </a:spcAft>
              <a:defRPr sz="1400">
                <a:solidFill>
                  <a:srgbClr val="F8FAFC"/>
                </a:solidFill>
                <a:latin typeface="Century Gothic"/>
              </a:defRPr>
            </a:pPr>
            <a:r>
              <a:t>Indian Road Deaths Annually</a:t>
            </a:r>
          </a:p>
          <a:p>
            <a:pPr>
              <a:defRPr sz="4200" b="1">
                <a:solidFill>
                  <a:srgbClr val="F59E0B"/>
                </a:solidFill>
                <a:latin typeface="Century Gothic"/>
              </a:defRPr>
            </a:pPr>
            <a:r>
              <a:t>₹5.8 Lakh Cr</a:t>
            </a:r>
          </a:p>
          <a:p>
            <a:pPr>
              <a:spcAft>
                <a:spcPts val="2000"/>
              </a:spcAft>
              <a:defRPr sz="1400">
                <a:solidFill>
                  <a:srgbClr val="F8FAFC"/>
                </a:solidFill>
                <a:latin typeface="Century Gothic"/>
              </a:defRPr>
            </a:pPr>
            <a:r>
              <a:t>Economic Loss Due to Infrastructure &amp; Violations</a:t>
            </a:r>
          </a:p>
          <a:p>
            <a:pPr>
              <a:defRPr sz="1000" i="1">
                <a:solidFill>
                  <a:srgbClr val="94A3B8"/>
                </a:solidFill>
                <a:latin typeface="Century Gothic"/>
              </a:defRPr>
            </a:pPr>
            <a:r>
              <a:t>Source: Ministry of Road Transport &amp; Highways (MoRTH)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33872" y="1645920"/>
            <a:ext cx="5669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08192" y="1920240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Century Gothic"/>
              </a:defRPr>
            </a:pPr>
            <a:r>
              <a:t>CRITICAL PAIN POINTS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■  Golden Hour Responding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Century Gothic"/>
              </a:defRPr>
            </a:pPr>
            <a:r>
              <a:t>Emergency vehicles struggle with unoptimized route telemetry, inaccurate GPS positions, and zero countdown coordination.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■  Infrastructure Transparency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Century Gothic"/>
              </a:defRPr>
            </a:pPr>
            <a:r>
              <a:t>No direct mechanism exists for citizens to track public repair budget utilization and resolution steppers.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■  Legal Safety Ambiguity</a:t>
            </a:r>
          </a:p>
          <a:p>
            <a:pPr>
              <a:spcAft>
                <a:spcPts val="800"/>
              </a:spcAft>
              <a:defRPr sz="1150">
                <a:solidFill>
                  <a:srgbClr val="F8FAFC"/>
                </a:solidFill>
                <a:latin typeface="Century Gothic"/>
              </a:defRPr>
            </a:pPr>
            <a:r>
              <a:t>Absence of localized driving rules indexes and dynamic fine systems across states (e.g. TN, MH, KA).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entury Gothic"/>
              </a:defRPr>
            </a:pPr>
            <a:r>
              <a:t>TACTICAL SOLUTION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entury Gothic"/>
              </a:defRPr>
            </a:pPr>
            <a:r>
              <a:t>RaastaSense: Intelligent Safety Ecosystem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10817352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F8FAFC"/>
                </a:solidFill>
                <a:latin typeface="Century Gothic"/>
              </a:defRPr>
            </a:pPr>
            <a:r>
              <a:t>RaastaSense is an interactive command center designed to bridge citizen watch complaints, legal safety indexation, dynamic road telemetry, and active emergency beacons into a single, high-fidelity real-time portal.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91840"/>
            <a:ext cx="3364992" cy="2651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474720"/>
            <a:ext cx="299923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38BDF8"/>
                </a:solidFill>
                <a:latin typeface="Century Gothic"/>
              </a:defRPr>
            </a:pPr>
            <a:r>
              <a:t>GIS LIVE MAPPING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  <a:latin typeface="Century Gothic"/>
              </a:defRPr>
            </a:pPr>
            <a:r>
              <a:t>Visualizes real-time route congestion with animated traffic flows (Red, Orange, Green polylines) and pulsing tactical incident flags.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3291840"/>
            <a:ext cx="3364992" cy="2651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3474720"/>
            <a:ext cx="299923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59E0B"/>
                </a:solidFill>
                <a:latin typeface="Century Gothic"/>
              </a:defRPr>
            </a:pPr>
            <a:r>
              <a:t>TRANSPARENCY AUDIT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  <a:latin typeface="Century Gothic"/>
              </a:defRPr>
            </a:pPr>
            <a:r>
              <a:t>Fuses citizen watch logs with local authority works, displaying allocated budget utilization and maintenance history steppers.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4" y="3291840"/>
            <a:ext cx="3364992" cy="2651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4" y="3474720"/>
            <a:ext cx="299923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43F5E"/>
                </a:solidFill>
                <a:latin typeface="Century Gothic"/>
              </a:defRPr>
            </a:pPr>
            <a:r>
              <a:t>GOLDEN HOUR BEACON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  <a:latin typeface="Century Gothic"/>
              </a:defRPr>
            </a:pPr>
            <a:r>
              <a:t>Enforces instantaneous disaster dispatching, geolocation locking, pre-routed corridors, and active countdown timers.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entury Gothic"/>
              </a:defRPr>
            </a:pPr>
            <a:r>
              <a:t>CORE FUNCTIONALITY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entury Gothic"/>
              </a:defRPr>
            </a:pPr>
            <a:r>
              <a:t>Four Engine Command Core Components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512064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  <a:latin typeface="Century Gothic"/>
              </a:defRPr>
            </a:pPr>
            <a:r>
              <a:t>■  SAFE ROUTE ENGINE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  <a:latin typeface="Century Gothic"/>
              </a:defRPr>
            </a:pPr>
            <a:r>
              <a:t>Computes the Fastest, Safest, and Least Incident routes. Fully integrated with live safety index statistics and real-time mapping polylines.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82512" y="1645920"/>
            <a:ext cx="512064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1828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entury Gothic"/>
              </a:defRPr>
            </a:pPr>
            <a:r>
              <a:t>■  DRIVELEGAL INDEX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  <a:latin typeface="Century Gothic"/>
              </a:defRPr>
            </a:pPr>
            <a:r>
              <a:t>Contextualized traffic rules index with regional selectors for Karnataka, TN, and Maharashtra. Dynamically recalibrates penalty surcharges.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931920"/>
            <a:ext cx="512064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14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Century Gothic"/>
              </a:defRPr>
            </a:pPr>
            <a:r>
              <a:t>■  ROADWATCH TRANSPARENCY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  <a:latin typeface="Century Gothic"/>
              </a:defRPr>
            </a:pPr>
            <a:r>
              <a:t>Accountability deck displaying citizen complaints, repair milestones, allocated vs spent budget meters, and historical audit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82512" y="3931920"/>
            <a:ext cx="512064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4114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43F5E"/>
                </a:solidFill>
                <a:latin typeface="Century Gothic"/>
              </a:defRPr>
            </a:pPr>
            <a:r>
              <a:t>■  ROADSOS BEACON</a:t>
            </a:r>
          </a:p>
          <a:p>
            <a:pPr>
              <a:spcBef>
                <a:spcPts val="400"/>
              </a:spcBef>
              <a:defRPr sz="1150">
                <a:solidFill>
                  <a:srgbClr val="F8FAFC"/>
                </a:solidFill>
                <a:latin typeface="Century Gothic"/>
              </a:defRPr>
            </a:pPr>
            <a:r>
              <a:t>60-minute descending countdown timer prioritizing dispatch survival. Integrates exact GPS telemetry coordination and center routing.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entury Gothic"/>
              </a:defRPr>
            </a:pPr>
            <a:r>
              <a:t>I18N &amp; TELEMETRY HUD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entury Gothic"/>
              </a:defRPr>
            </a:pPr>
            <a:r>
              <a:t>Multilingual &amp; System Observability HUD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2976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600" b="1">
                <a:solidFill>
                  <a:srgbClr val="38BDF8"/>
                </a:solidFill>
                <a:latin typeface="Century Gothic"/>
              </a:defRPr>
            </a:pPr>
            <a:r>
              <a:t>9-LANGUAGE REGIONAL LOCALIZATION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9 Native Indian Languages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Complete i18n support mapping English, Hindi, Marathi, Tamil, Telugu, Kannada, Gujarati, Punjabi, and Bengali dynamically.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Glassmorphic Toggle Dropper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Immediate runtime translation of navigation, legal counselor metrics, fine indexes, and municipal watch tickets.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Zero-Latency Translation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Runs on standard React state and localized JSON dictionary assets with zero third-party API dependencies.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33872" y="1645920"/>
            <a:ext cx="5669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08192" y="1920240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F59E0B"/>
                </a:solidFill>
                <a:latin typeface="Century Gothic"/>
              </a:defRPr>
            </a:pPr>
            <a:r>
              <a:t>ANALYTICS HUD &amp; CONFIG DIAGNOSTICS</a:t>
            </a:r>
          </a:p>
          <a:p>
            <a:pPr>
              <a:spcBef>
                <a:spcPts val="600"/>
              </a:spcBef>
              <a:defRPr sz="1300" b="1">
                <a:solidFill>
                  <a:srgbClr val="38BDF8"/>
                </a:solidFill>
                <a:latin typeface="Century Gothic"/>
              </a:defRPr>
            </a:pPr>
            <a:r>
              <a:t>■  Dynamic Inline SVG Charts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Custom React SVG-rendered live line graphs mapping route congestion trends and vertical bar charts tracking resolution times.</a:t>
            </a:r>
          </a:p>
          <a:p>
            <a:pPr>
              <a:spcBef>
                <a:spcPts val="600"/>
              </a:spcBef>
              <a:defRPr sz="1300" b="1">
                <a:solidFill>
                  <a:srgbClr val="38BDF8"/>
                </a:solidFill>
                <a:latin typeface="Century Gothic"/>
              </a:defRPr>
            </a:pPr>
            <a:r>
              <a:t>■  Simulated Infrastructure Settings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HUD checking NoSQL database connection status, active environment configurations, and Vercel aliased live links.</a:t>
            </a:r>
          </a:p>
          <a:p>
            <a:pPr>
              <a:spcBef>
                <a:spcPts val="600"/>
              </a:spcBef>
              <a:defRPr sz="1300" b="1">
                <a:solidFill>
                  <a:srgbClr val="38BDF8"/>
                </a:solidFill>
                <a:latin typeface="Century Gothic"/>
              </a:defRPr>
            </a:pPr>
            <a:r>
              <a:t>■  Live Telemetry Logging Console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Active logs feed simulating continuous audit trails, Firestore client indicators, and Golden Hour loop checks.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entury Gothic"/>
              </a:defRPr>
            </a:pPr>
            <a:r>
              <a:t>SYSTEM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entury Gothic"/>
              </a:defRPr>
            </a:pPr>
            <a:r>
              <a:t>Ecosystem Technical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47548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2976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600" b="1">
                <a:solidFill>
                  <a:srgbClr val="38BDF8"/>
                </a:solidFill>
                <a:latin typeface="Century Gothic"/>
              </a:defRPr>
            </a:pPr>
            <a:r>
              <a:t>INTELLIGENT SYSTEM PIPELINE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1. Data Telemetry Intake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Simulates continuous GPS coordinate updates, weather conditions, and spatial traffic flow variables.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2. Rule &amp; Safety Engine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Evaluates road risk factors, checks state-level surcharges, and updates structural transparency data.</a:t>
            </a:r>
          </a:p>
          <a:p>
            <a:pPr>
              <a:spcBef>
                <a:spcPts val="800"/>
              </a:spcBef>
              <a:defRPr sz="1300" b="1">
                <a:solidFill>
                  <a:srgbClr val="F59E0B"/>
                </a:solidFill>
                <a:latin typeface="Century Gothic"/>
              </a:defRPr>
            </a:pPr>
            <a:r>
              <a:t>3. GIS Dispatch Layer</a:t>
            </a:r>
          </a:p>
          <a:p>
            <a:pPr>
              <a:spcAft>
                <a:spcPts val="10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Resolves Leaflet routing layers and triggers coordinate-locked emergency beacons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33872" y="1645920"/>
            <a:ext cx="5669280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08192" y="1920240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 b="1">
                <a:solidFill>
                  <a:srgbClr val="F59E0B"/>
                </a:solidFill>
                <a:latin typeface="Century Gothic"/>
              </a:defRPr>
            </a:pPr>
            <a:r>
              <a:t>TECHNOLOGY STACK CORE</a:t>
            </a:r>
          </a:p>
          <a:p>
            <a:pPr>
              <a:spcBef>
                <a:spcPts val="600"/>
              </a:spcBef>
              <a:defRPr sz="1300" b="1">
                <a:solidFill>
                  <a:srgbClr val="38BDF8"/>
                </a:solidFill>
                <a:latin typeface="Century Gothic"/>
              </a:defRPr>
            </a:pPr>
            <a:r>
              <a:t>■  Interactive Frontend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React 18, Leaflet.js, Framer Motion, Tailwind CSS, Lucide Icons</a:t>
            </a:r>
          </a:p>
          <a:p>
            <a:pPr>
              <a:spcBef>
                <a:spcPts val="600"/>
              </a:spcBef>
              <a:defRPr sz="1300" b="1">
                <a:solidFill>
                  <a:srgbClr val="38BDF8"/>
                </a:solidFill>
                <a:latin typeface="Century Gothic"/>
              </a:defRPr>
            </a:pPr>
            <a:r>
              <a:t>■  Monorepo API Backend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Node.js, Express, Telemetry Simulators, Geolocation trackers</a:t>
            </a:r>
          </a:p>
          <a:p>
            <a:pPr>
              <a:spcBef>
                <a:spcPts val="600"/>
              </a:spcBef>
              <a:defRPr sz="1300" b="1">
                <a:solidFill>
                  <a:srgbClr val="38BDF8"/>
                </a:solidFill>
                <a:latin typeface="Century Gothic"/>
              </a:defRPr>
            </a:pPr>
            <a:r>
              <a:t>■  Generative AI Agent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Google Generative AI (Gemini Core) with static safety fallback catalog</a:t>
            </a:r>
          </a:p>
          <a:p>
            <a:pPr>
              <a:spcBef>
                <a:spcPts val="600"/>
              </a:spcBef>
              <a:defRPr sz="1300" b="1">
                <a:solidFill>
                  <a:srgbClr val="38BDF8"/>
                </a:solidFill>
                <a:latin typeface="Century Gothic"/>
              </a:defRPr>
            </a:pPr>
            <a:r>
              <a:t>■  GIS Mapping Tiles</a:t>
            </a:r>
          </a:p>
          <a:p>
            <a:pPr>
              <a:spcAft>
                <a:spcPts val="600"/>
              </a:spcAft>
              <a:defRPr sz="1100">
                <a:solidFill>
                  <a:srgbClr val="F8FAFC"/>
                </a:solidFill>
                <a:latin typeface="Century Gothic"/>
              </a:defRPr>
            </a:pPr>
            <a:r>
              <a:t>OpenStreetMap GIS Tile Systems with animated traffic overlays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9144000" cy="36576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Century Gothic"/>
              </a:defRPr>
            </a:pPr>
            <a:r>
              <a:t>ECOSYSTEM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10817352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Century Gothic"/>
              </a:defRPr>
            </a:pPr>
            <a:r>
              <a:t>Operational &amp; Societal Impact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3364992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290779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38BDF8"/>
                </a:solidFill>
                <a:latin typeface="Century Gothic"/>
              </a:defRPr>
            </a:pPr>
            <a:r>
              <a:t>CITIZENS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  <a:latin typeface="Century Gothic"/>
              </a:defRPr>
            </a:pPr>
            <a:r>
              <a:t>Enables safe route planning, instant dangerous pothole file reports, active AI safety coaching, and localized drive-legal penalties awareness.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1645920"/>
            <a:ext cx="3364992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45152" y="1920240"/>
            <a:ext cx="290779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F59E0B"/>
                </a:solidFill>
                <a:latin typeface="Century Gothic"/>
              </a:defRPr>
            </a:pPr>
            <a:r>
              <a:t>AUTHORITIES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  <a:latin typeface="Century Gothic"/>
              </a:defRPr>
            </a:pPr>
            <a:r>
              <a:t>Guarantees public auditability of repair tasks, displays allocated fund utilization transparently, and accelerates dispatcher repair coordination.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7304" y="1645920"/>
            <a:ext cx="3364992" cy="4297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75904" y="1920240"/>
            <a:ext cx="290779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F43F5E"/>
                </a:solidFill>
                <a:latin typeface="Century Gothic"/>
              </a:defRPr>
            </a:pPr>
            <a:r>
              <a:t>EMERGENCY SERVICES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  <a:latin typeface="Century Gothic"/>
              </a:defRPr>
            </a:pPr>
            <a:r>
              <a:t>Coordinates critical 60-minute golden hour rescue beacons, provides 100% accurate geolocation tracking, and pre-allocates rescue channels.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38BDF8"/>
                </a:solidFill>
                <a:latin typeface="Century Gothic"/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8FAFC"/>
                </a:solidFill>
                <a:latin typeface="Century Gothic"/>
              </a:defRPr>
            </a:pPr>
            <a:r>
              <a:t>Transforming Indian Roads, Protecting Precious Lives.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Century Gothic"/>
              </a:defRPr>
            </a:pPr>
            <a:r>
              <a:t>Presented by Team NXT-waVE (Ajay Rathod &amp; Animesh Bhanarkar)</a:t>
            </a:r>
          </a:p>
        </p:txBody>
      </p:sp>
      <p:sp>
        <p:nvSpPr>
          <p:cNvPr id="5" name="Rectangle 4"/>
          <p:cNvSpPr/>
          <p:nvPr/>
        </p:nvSpPr>
        <p:spPr>
          <a:xfrm>
            <a:off x="4261104" y="4114800"/>
            <a:ext cx="3657600" cy="2743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11680" y="4480560"/>
            <a:ext cx="3749039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2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8FAFC"/>
                </a:solidFill>
                <a:latin typeface="Century Gothic"/>
              </a:defRPr>
            </a:pPr>
            <a:r>
              <a:t>DEMO LINK</a:t>
            </a:r>
            <a:br/>
            <a:r>
              <a:t>https://raastasense.vercel.app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4480560"/>
            <a:ext cx="3749039" cy="9144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4572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F8FAFC"/>
                </a:solidFill>
                <a:latin typeface="Century Gothic"/>
              </a:defRPr>
            </a:pPr>
            <a:r>
              <a:t>GITHUB LINK</a:t>
            </a:r>
            <a:br/>
            <a:r>
              <a:t>https://github.com/Ajayrathod04/RaastaSense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